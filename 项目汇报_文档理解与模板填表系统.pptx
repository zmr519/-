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420"/>
              </a:lnSpc>
              <a:spcAft>
                <a:spcPts val="0"/>
              </a:spcAft>
              <a:defRPr sz="3400" b="1">
                <a:solidFill>
                  <a:srgbClr val="FFFFFF"/>
                </a:solidFill>
                <a:latin typeface="微软雅黑"/>
              </a:defRPr>
            </a:pPr>
            <a:r>
              <a:t>基于 RAG 与双路抽取融合的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940"/>
              </a:lnSpc>
              <a:spcAft>
                <a:spcPts val="0"/>
              </a:spcAft>
              <a:defRPr sz="3800" b="1">
                <a:solidFill>
                  <a:srgbClr val="FFFFFF"/>
                </a:solidFill>
                <a:latin typeface="微软雅黑"/>
              </a:defRPr>
            </a:pPr>
            <a:r>
              <a:t>端到端文档理解与模板填表系统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2860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A0C4E8"/>
                </a:solidFill>
                <a:latin typeface="微软雅黑"/>
              </a:defRPr>
            </a:pPr>
            <a:r>
              <a:t>End-to-End Document Understanding &amp; Template Filling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474720"/>
            <a:ext cx="9144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24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微软雅黑"/>
              </a:defRPr>
            </a:pPr>
            <a:r>
              <a:t>📄  支持 DOCX / XLSX / Markdown / TXT 四种格式输入</a:t>
            </a:r>
          </a:p>
          <a:p>
            <a:pPr algn="l">
              <a:lnSpc>
                <a:spcPts val="324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微软雅黑"/>
              </a:defRPr>
            </a:pPr>
            <a:r>
              <a:t>🔍  RAG 检索增强 + 双路抽取（规则 + LLM）融合架构</a:t>
            </a:r>
          </a:p>
          <a:p>
            <a:pPr algn="l">
              <a:lnSpc>
                <a:spcPts val="324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微软雅黑"/>
              </a:defRPr>
            </a:pPr>
            <a:r>
              <a:t>📊  自动识别模板结构，智能填写 Word / Excel 模板</a:t>
            </a:r>
          </a:p>
          <a:p>
            <a:pPr algn="l">
              <a:lnSpc>
                <a:spcPts val="3240"/>
              </a:lnSpc>
              <a:spcAft>
                <a:spcPts val="200"/>
              </a:spcAft>
              <a:defRPr sz="1800" b="0">
                <a:solidFill>
                  <a:srgbClr val="2D2D2D"/>
                </a:solidFill>
                <a:latin typeface="微软雅黑"/>
              </a:defRPr>
            </a:pPr>
            <a:r>
              <a:t>📋  全链路可追溯的审计报告输出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1/12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汇报目录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CONTENTS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2/12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项目背景与问题定义</a:t>
            </a:r>
          </a:p>
        </p:txBody>
      </p:sp>
      <p:sp>
        <p:nvSpPr>
          <p:cNvPr id="10" name="Rectangle 9"/>
          <p:cNvSpPr/>
          <p:nvPr/>
        </p:nvSpPr>
        <p:spPr>
          <a:xfrm>
            <a:off x="1828800" y="19659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2377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系统总体架构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28800" y="28803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文档解析与语义切分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828800" y="37947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972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82880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向量索引与检索策略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47091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5120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双路信息抽取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0" y="56235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4630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多源融合与冲突解决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15200" y="19659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3774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24231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模板自省与智能填写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315200" y="28803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2918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33375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技术选型与依赖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315200" y="37947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42062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4251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系统演示与示例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315200" y="47091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512064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2E86AB"/>
                </a:solidFill>
                <a:latin typeface="微软雅黑"/>
              </a:defRPr>
            </a:pPr>
            <a:r>
              <a:t>10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0" y="5166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0">
                <a:solidFill>
                  <a:srgbClr val="2D2D2D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15200" y="5623560"/>
            <a:ext cx="3657600" cy="18288"/>
          </a:xfrm>
          <a:prstGeom prst="rect">
            <a:avLst/>
          </a:prstGeom>
          <a:solidFill>
            <a:srgbClr val="EBEF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01  项目背景与问题定义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Problem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3/12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035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1A3C6E"/>
                </a:solidFill>
                <a:latin typeface="微软雅黑"/>
              </a:defRPr>
            </a:pPr>
            <a:r>
              <a:t>现实痛点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政务/统计文档格式多样（Word、Excel、Markdown、纯文本），人工整理效率低下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非结构化长文档中目标信息分散，人工查找易遗漏、易出错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传统关键词检索无法理解语义，精度不足；纯 LLM 方案幻觉风险高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模板格式各异（占位符、表格、标签-值对），缺乏通用填写方案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抽取过程不透明，结果难以审计和追溯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371600"/>
            <a:ext cx="5303520" cy="484632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600"/>
              </a:lnSpc>
              <a:spcAft>
                <a:spcPts val="0"/>
              </a:spcAft>
              <a:defRPr sz="2000" b="1">
                <a:solidFill>
                  <a:srgbClr val="E86F51"/>
                </a:solidFill>
                <a:latin typeface="微软雅黑"/>
              </a:defRPr>
            </a:pPr>
            <a:r>
              <a:t>设计目标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端到端自动化：从文档输入到模板输出一键完成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高准确率：RAG 缩减上下文 + 双路互补抽取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强可解释性：全链路审计报告，每个值可追溯来源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高通用性：自动检测模板结构，适配多种填写模式</a:t>
            </a:r>
          </a:p>
          <a:p>
            <a:pPr algn="l">
              <a:lnSpc>
                <a:spcPts val="238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低耦合：各阶段组件可独立替换，便于扩展维护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02  系统总体架构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System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4/12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645920"/>
            <a:ext cx="155448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文档解析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103120"/>
            <a:ext cx="15544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94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DOCX/XLSX</a:t>
            </a:r>
            <a:br/>
            <a:r>
              <a:t>MD/TXT</a:t>
            </a:r>
            <a:br/>
            <a:r>
              <a:t>格式分发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23160" y="1645920"/>
            <a:ext cx="155448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42316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语义切分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423160" y="2103120"/>
            <a:ext cx="15544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514600" y="2194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Parent-Child</a:t>
            </a:r>
            <a:br/>
            <a:r>
              <a:t>双层Chunk</a:t>
            </a:r>
            <a:br/>
            <a:r>
              <a:t>句子感知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1645920"/>
            <a:ext cx="155448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向量检索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2103120"/>
            <a:ext cx="15544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389120" y="2194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Embedding编码</a:t>
            </a:r>
            <a:br/>
            <a:r>
              <a:t>文件名预过滤</a:t>
            </a:r>
            <a:br/>
            <a:r>
              <a:t>关键词重排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645920"/>
            <a:ext cx="155448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7220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双路抽取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72200" y="2103120"/>
            <a:ext cx="15544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63640" y="2194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规则抽取器</a:t>
            </a:r>
            <a:br/>
            <a:r>
              <a:t>LLM抽取器</a:t>
            </a:r>
            <a:br/>
            <a:r>
              <a:t>并行执行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046720" y="1645920"/>
            <a:ext cx="155448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多源融合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46720" y="2103120"/>
            <a:ext cx="15544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138160" y="2194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五维评分</a:t>
            </a:r>
            <a:br/>
            <a:r>
              <a:t>多源印证</a:t>
            </a:r>
            <a:br/>
            <a:r>
              <a:t>冲突解决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4692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3120"/>
              </a:lnSpc>
              <a:spcAft>
                <a:spcPts val="0"/>
              </a:spcAft>
              <a:defRPr sz="2400" b="1">
                <a:solidFill>
                  <a:srgbClr val="2E86AB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921240" y="1645920"/>
            <a:ext cx="155448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169164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模板填写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921240" y="2103120"/>
            <a:ext cx="1554480" cy="13716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12680" y="219456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模板自省</a:t>
            </a:r>
            <a:br/>
            <a:r>
              <a:t>Word/Excel</a:t>
            </a:r>
            <a:br/>
            <a:r>
              <a:t>审计报告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三大核心设计思路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48640" y="4297680"/>
            <a:ext cx="34747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3152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E86AB"/>
                </a:solidFill>
                <a:latin typeface="微软雅黑"/>
              </a:defRPr>
            </a:pPr>
            <a:r>
              <a:t>▎RAG 检索增强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向量检索将海量文档缩减为高相关证据片段，</a:t>
            </a:r>
            <a:br/>
            <a:r>
              <a:t>降低 LLM 上下文长度与幻觉风险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389120" y="4297680"/>
            <a:ext cx="34747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57200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E86AB"/>
                </a:solidFill>
                <a:latin typeface="微软雅黑"/>
              </a:defRPr>
            </a:pPr>
            <a:r>
              <a:t>▎双路抽取+加权融合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规则路径提供高置信可解释候选，</a:t>
            </a:r>
            <a:br/>
            <a:r>
              <a:t>LLM 路径补充复杂语义场景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4297680"/>
            <a:ext cx="347472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412480" y="438912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E86AB"/>
                </a:solidFill>
                <a:latin typeface="微软雅黑"/>
              </a:defRPr>
            </a:pPr>
            <a:r>
              <a:t>▎模板自省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412480" y="4846320"/>
            <a:ext cx="3108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自动检测模板结构模式，</a:t>
            </a:r>
            <a:br/>
            <a:r>
              <a:t>无需用户手动指定填写方式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03  文档解析与语义切分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Parsing &amp; Chunking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5/12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格式分发器：按后缀自动选择解析器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30352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520"/>
                <a:gridCol w="118872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格式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解析器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核心特性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.docx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docx_parser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XML子节点顺序遍历，Heading层级面包屑，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多级合并表头检测（最多4行）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.xlsx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xlsx_parser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三层容错策略，每行生成structured_row，</a:t>
                      </a:r>
                    </a:p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日期/时间列自动格式化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.md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md_parser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双换行分割段落，Markdown表格语法识别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.txt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txt_parser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按行切分，识别竖线表格与TSV表格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Parent-Child 双层语义切分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18288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Parent Chunk —— 按文档自然结构分组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  · 同一表格、同一 Heading 章节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  · 保留完整上下文供 LLM 抽取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Child Chunk —— 句子感知贪婪合并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  · 在 Parent 内部进一步切分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  · 用于向量检索，提高定位精度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句子切分层级：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  中文句末标点（。！？）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   → 分号（；）</a:t>
            </a:r>
          </a:p>
          <a:p>
            <a:pPr algn="l">
              <a:lnSpc>
                <a:spcPts val="2100"/>
              </a:lnSpc>
              <a:spcAft>
                <a:spcPts val="20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   → 逗号（，）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5120640"/>
            <a:ext cx="502920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0" y="5212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E86AB"/>
                </a:solidFill>
                <a:latin typeface="微软雅黑"/>
              </a:defRPr>
            </a:pPr>
            <a:r>
              <a:t>✦  兼顾检索精度（小粒度 Child）与 LLM 上下文完整性（大粒度 Parent）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04  向量索引与检索策略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Embedding &amp; Retrieval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6/12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Embedding 后端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6576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后端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说明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SentenceTransformer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基于 sentence-transformers，默认方案</a:t>
                      </a:r>
                    </a:p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paraphrase-multilingual-MiniLM-L12-v2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BGE Backend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基于 FlagEmbedding</a:t>
                      </a:r>
                    </a:p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支持 BAAI/BGE-M3 / Dense 两种模式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词袋回退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依赖缺失时自动降级</a:t>
                      </a:r>
                    </a:p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512 维词袋向量，零依赖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向量索引后端（可切换）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548640" y="4114800"/>
          <a:ext cx="53035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011680"/>
                <a:gridCol w="237744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后端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实现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适用场景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Qdrant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向量数据库（本地模式）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默认方案，持久化+过滤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FAISS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IndexFlatIP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大规模高性能检索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NumPy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纯 NumPy 内积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零依赖轻量方案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五步检索流程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73736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7830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0" y="173736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查询文本 Embedding 编码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0" y="269748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7432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69748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文件名预过滤</a:t>
            </a:r>
            <a:br/>
            <a:r>
              <a:t>计算查询向量与文档文件名向量相似度</a:t>
            </a:r>
            <a:br/>
            <a:r>
              <a:t>过滤不相关文档来源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365760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65760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向量近邻检索</a:t>
            </a:r>
            <a:br/>
            <a:r>
              <a:t>获取 Top-K Child Chunk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461772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0" y="4663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④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49440" y="461772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关键词重排序</a:t>
            </a:r>
            <a:br/>
            <a:r>
              <a:t>0.8 × 向量分 + 0.2 × 关键词分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00800" y="5577840"/>
            <a:ext cx="45720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0" y="56235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5577840"/>
            <a:ext cx="4572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90"/>
              </a:lnSpc>
              <a:spcAft>
                <a:spcPts val="0"/>
              </a:spcAft>
              <a:defRPr sz="1300" b="0">
                <a:solidFill>
                  <a:srgbClr val="2D2D2D"/>
                </a:solidFill>
                <a:latin typeface="微软雅黑"/>
              </a:defRPr>
            </a:pPr>
            <a:r>
              <a:t>Parent 上下文展开</a:t>
            </a:r>
            <a:br/>
            <a:r>
              <a:t>Child → Parent 替换并去重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05  双路信息抽取 — 规则抽取器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Rule-based Extractor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7/12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0">
                <a:solidFill>
                  <a:srgbClr val="5A5A5A"/>
                </a:solidFill>
                <a:latin typeface="微软雅黑"/>
              </a:defRPr>
            </a:pPr>
            <a:r>
              <a:t>策略：规则优先、LLM 兜底 —— 规则路径不依赖外部模型，按置信度降序排列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828800"/>
          <a:ext cx="1097280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371600"/>
                <a:gridCol w="7315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抽取模式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置信度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工作原理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结构化行映射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~0.98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从 structured_row 字典中按字段名/别名精确匹配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键值对匹配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~0.93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匹配文本中 "字段名：值" 模式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自定义正则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~0.88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按 FieldSpec.regex_patterns 定义的正则表达式匹配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轻量 NER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~0.74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基于实体类型的模式匹配（日期、金额、人名等）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2062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规则抽取器附加能力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自动从用户查询中解析约束条件（目标地点、日期范围、数量限制等）</a:t>
            </a:r>
          </a:p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城市名提取与标准化：支持多种表述方式的归一化与约束过滤</a:t>
            </a:r>
          </a:p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为后续检索和抽取阶段提供结构化的约束信息</a:t>
            </a:r>
          </a:p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高置信候选可直接跳过 LLM 调用，节省算力与延迟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05  双路信息抽取 — LLM 抽取器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LLM-based Extractor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8/12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371600"/>
            <a:ext cx="539496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动态分批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920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按 field_batch_size 对字段分批</a:t>
            </a:r>
            <a:br/>
            <a:r>
              <a:t>每批独立构建 Prompt</a:t>
            </a:r>
            <a:br/>
            <a:r>
              <a:t>单批超限时对半拆分递归处理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39496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共享证据池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192024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多字段检索命中合并去重</a:t>
            </a:r>
            <a:br/>
            <a:r>
              <a:t>每条证据标注 relevant_for 字段列表</a:t>
            </a:r>
            <a:br/>
            <a:r>
              <a:t>消除重复 token，保持跨字段关联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93192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3931920"/>
            <a:ext cx="5394960" cy="4572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结构化输出校验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4480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要求严格 JSON 格式输出</a:t>
            </a:r>
            <a:br/>
            <a:r>
              <a:t>jsonschema 逐字段校验</a:t>
            </a:r>
            <a:br/>
            <a:r>
              <a:t>校验失败自动重试（max_retries 次）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5394960" cy="21945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931920"/>
            <a:ext cx="5394960" cy="45720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3977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微软雅黑"/>
              </a:defRPr>
            </a:pPr>
            <a:r>
              <a:t>硬约束规则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480560"/>
            <a:ext cx="493776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spcAft>
                <a:spcPts val="0"/>
              </a:spcAft>
              <a:defRPr sz="1400" b="0">
                <a:solidFill>
                  <a:srgbClr val="2D2D2D"/>
                </a:solidFill>
                <a:latin typeface="微软雅黑"/>
              </a:defRPr>
            </a:pPr>
            <a:r>
              <a:t>9 条抽取规则嵌入 Prompt</a:t>
            </a:r>
            <a:br/>
            <a:r>
              <a:t>禁止编造缺失值</a:t>
            </a:r>
            <a:br/>
            <a:r>
              <a:t>纯数值不带单位</a:t>
            </a:r>
            <a:br/>
            <a:r>
              <a:t>多级表头取最细粒度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179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60"/>
              </a:lnSpc>
              <a:spcAft>
                <a:spcPts val="0"/>
              </a:spcAft>
              <a:defRPr sz="1200" b="0">
                <a:solidFill>
                  <a:srgbClr val="5A5A5A"/>
                </a:solidFill>
                <a:latin typeface="微软雅黑"/>
              </a:defRPr>
            </a:pPr>
            <a:r>
              <a:t>▎ 统计公报专用抽取器：对含【xxx】占位符的模板，不经向量检索，直接在源文本中定位（段落对齐法 / 结构模式法 / 字段名搜索法）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06  多源融合与冲突解决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Multi-source Fusion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9/12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五维加权评分体系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02920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评分维度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含义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来源置信度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候选值来源的可靠程度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文本相似度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候选值与上下文的语义匹配度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位置相关度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候选值在文档中的位置权重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格式匹配度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候选值与预期格式的吻合程度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约束满足度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候选值是否满足字段约束条件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43891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多源印证奖励机制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84632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相同值被不同来源独立产出时获得加分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每多一个来源 +0.04 分（上限 0.10）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鼓励规则/LLM/不同Chunk多路互证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最终排序：final_score + corroboration_bonus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记录级融合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兼容性分组：非空字段重叠且值一致的候选归入同一组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互补字段自动合并（高分优先）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组内取最优，组间按证据得分+字段完整度+印证奖励排序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支持 max_records 截断控制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657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计算字段后处理</a:t>
            </a: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6400800" y="4114800"/>
          <a:ext cx="5029200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计算类型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执行方式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sum / average / count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Python 精确计算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ratio / growth_rate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构建专用 Prompt 交 LLM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  <p:sp>
        <p:nvSpPr>
          <p:cNvPr id="16" name="Rectangle 15"/>
          <p:cNvSpPr/>
          <p:nvPr/>
        </p:nvSpPr>
        <p:spPr>
          <a:xfrm>
            <a:off x="6400800" y="5303520"/>
            <a:ext cx="5029200" cy="10972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E86AB"/>
                </a:solidFill>
                <a:latin typeface="微软雅黑"/>
              </a:defRPr>
            </a:pPr>
            <a:r>
              <a:t>跨语言字段对齐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576072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79"/>
              </a:lnSpc>
              <a:spcAft>
                <a:spcPts val="0"/>
              </a:spcAft>
              <a:defRPr sz="1200" b="0">
                <a:solidFill>
                  <a:srgbClr val="5A5A5A"/>
                </a:solidFill>
                <a:latin typeface="微软雅黑"/>
              </a:defRPr>
            </a:pPr>
            <a:r>
              <a:t>利用多语言 Embedding 计算源数据列头（如 "GDP"）</a:t>
            </a:r>
            <a:br/>
            <a:r>
              <a:t>与目标字段名（如 "国内生产总值"）的余弦相似度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07  模板自省与智能填写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Template Introspection &amp; Filling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10/12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模板自省：自动分析模板结构，返回 TemplateLayout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检测占位符类型：{{xxx}}、【xxx】、____、[ ]、（）</a:t>
            </a:r>
          </a:p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表格布局信息：表头行、数据起始行、目标城市、可用容量</a:t>
            </a:r>
          </a:p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标签-值对位置定位</a:t>
            </a:r>
          </a:p>
          <a:p>
            <a:pPr algn="l">
              <a:lnSpc>
                <a:spcPts val="224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填写模式自动判断：纯占位符 / 纯表格 / 混合模式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65760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E86AB"/>
                </a:solidFill>
                <a:latin typeface="微软雅黑"/>
              </a:defRPr>
            </a:pPr>
            <a:r>
              <a:t>Excel 模板填写策略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14800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{{field_name}} / 【xxx】占位符替换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标签-值对填写（字段名单元格右侧写入值）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表格数据批量填写（表头列模糊映射 + 追加行）</a:t>
            </a:r>
          </a:p>
          <a:p>
            <a:pPr algn="l">
              <a:lnSpc>
                <a:spcPts val="195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空白占位符自动替换（____ / [ ] / （））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2E86AB"/>
                </a:solidFill>
                <a:latin typeface="微软雅黑"/>
              </a:defRPr>
            </a:pPr>
            <a:r>
              <a:t>Word 模板填写策略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73736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84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{{xxx}} 占位符：4 级模糊匹配</a:t>
            </a:r>
            <a:br/>
            <a:r>
              <a:t>  精确 → 归一化 → 上下文关键词 → 包含匹配</a:t>
            </a:r>
          </a:p>
          <a:p>
            <a:pPr algn="l">
              <a:lnSpc>
                <a:spcPts val="1884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【xxx】中文占位符替换</a:t>
            </a:r>
          </a:p>
          <a:p>
            <a:pPr algn="l">
              <a:lnSpc>
                <a:spcPts val="1884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表格内占位符与标签-值对处理</a:t>
            </a:r>
          </a:p>
          <a:p>
            <a:pPr algn="l">
              <a:lnSpc>
                <a:spcPts val="1884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标签式表格：行标签 × 列头交叉定位单元格</a:t>
            </a:r>
          </a:p>
          <a:p>
            <a:pPr algn="l">
              <a:lnSpc>
                <a:spcPts val="1884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表格数据：自动添加行，原始列索引映射</a:t>
            </a:r>
          </a:p>
          <a:p>
            <a:pPr algn="l">
              <a:lnSpc>
                <a:spcPts val="1884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单位去重：模板上下文已含单位时自动剥离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5029200"/>
            <a:ext cx="5029200" cy="128016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E86F51"/>
                </a:solidFill>
                <a:latin typeface="微软雅黑"/>
              </a:defRPr>
            </a:pPr>
            <a:r>
              <a:t>混合模式处理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5778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300" b="0">
                <a:solidFill>
                  <a:srgbClr val="5A5A5A"/>
                </a:solidFill>
                <a:latin typeface="微软雅黑"/>
              </a:defRPr>
            </a:pPr>
            <a:r>
              <a:t>模板同时包含占位符和表格时：</a:t>
            </a:r>
            <a:br/>
            <a:r>
              <a:t>分别调用字段抽取与记录抽取，</a:t>
            </a:r>
            <a:br/>
            <a:r>
              <a:t>支持用表格记录汇总值反哺占位符空值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08  技术选型与使用方式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686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spcAft>
                <a:spcPts val="0"/>
              </a:spcAft>
              <a:defRPr sz="1400" b="0">
                <a:solidFill>
                  <a:srgbClr val="5A5A5A"/>
                </a:solidFill>
                <a:latin typeface="微软雅黑"/>
              </a:defRPr>
            </a:pPr>
            <a:r>
              <a:t>Tech Stack &amp; Usage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11/12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核心技术栈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8640" y="1737360"/>
          <a:ext cx="5029200" cy="3703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338328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组件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技术选型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向量化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Sentence-Transformers / BGE-M3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向量数据库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Qdrant（默认）/ FAISS / NumPy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大语言模型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DeepSeek / Qwen (OpenAI 兼容API)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文档读写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python-docx / docxtpl / openpyxl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JSON 校验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jsonschema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模糊匹配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rapidfuzz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HTTP 服务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FastAPI + Uvicorn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配置管理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PyYAML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400800" y="128016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080"/>
              </a:lnSpc>
              <a:spcAft>
                <a:spcPts val="0"/>
              </a:spcAft>
              <a:defRPr sz="1600" b="1">
                <a:solidFill>
                  <a:srgbClr val="1A3C6E"/>
                </a:solidFill>
                <a:latin typeface="微软雅黑"/>
              </a:defRPr>
            </a:pPr>
            <a:r>
              <a:t>两种使用模式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37360"/>
            <a:ext cx="5029200" cy="201168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1828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E86AB"/>
                </a:solidFill>
                <a:latin typeface="微软雅黑"/>
              </a:defRPr>
            </a:pPr>
            <a:r>
              <a:t>CLI 命令行模式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2860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2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ingest — 文档注入（解析+建索引）</a:t>
            </a:r>
          </a:p>
          <a:p>
            <a:pPr algn="l">
              <a:lnSpc>
                <a:spcPts val="182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query — 字段查询抽取（返回 JSON）</a:t>
            </a:r>
          </a:p>
          <a:p>
            <a:pPr algn="l">
              <a:lnSpc>
                <a:spcPts val="182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fill   — 模板填表（端到端执行）</a:t>
            </a:r>
          </a:p>
          <a:p>
            <a:pPr algn="l">
              <a:lnSpc>
                <a:spcPts val="1820"/>
              </a:lnSpc>
              <a:defRPr sz="1300">
                <a:solidFill>
                  <a:srgbClr val="2D2D2D"/>
                </a:solidFill>
                <a:latin typeface="微软雅黑"/>
              </a:defRPr>
            </a:pPr>
            <a:r>
              <a:t>●  serve — 启动 HTTP 服务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0" y="3931920"/>
            <a:ext cx="5029200" cy="237744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50"/>
              </a:lnSpc>
              <a:spcAft>
                <a:spcPts val="0"/>
              </a:spcAft>
              <a:defRPr sz="1500" b="1">
                <a:solidFill>
                  <a:srgbClr val="2E86AB"/>
                </a:solidFill>
                <a:latin typeface="微软雅黑"/>
              </a:defRPr>
            </a:pPr>
            <a:r>
              <a:t>HTTP 服务模式（FastAPI）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6583680" y="4480560"/>
          <a:ext cx="4663440" cy="2057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2651760"/>
              </a:tblGrid>
              <a:tr h="41148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端点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方法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功能</a:t>
                      </a:r>
                    </a:p>
                  </a:txBody>
                  <a:tcPr anchor="ctr">
                    <a:solidFill>
                      <a:srgbClr val="1A3C6E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/ingest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上传数据文档，解析建索引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/fill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上传模板+需求，返回已填文件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/status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查看当前状态</a:t>
                      </a:r>
                    </a:p>
                  </a:txBody>
                  <a:tcPr anchor="ctr"/>
                </a:tc>
              </a:tr>
              <a:tr h="41148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/reset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POST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2D2D2D"/>
                          </a:solidFill>
                          <a:latin typeface="微软雅黑"/>
                        </a:defRPr>
                      </a:pPr>
                      <a:r>
                        <a:t>清空数据与缓存</a:t>
                      </a:r>
                    </a:p>
                  </a:txBody>
                  <a:tcPr anchor="ctr">
                    <a:solidFill>
                      <a:srgbClr val="EBEFF5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" y="411480"/>
            <a:ext cx="54864" cy="502920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640"/>
              </a:lnSpc>
              <a:spcAft>
                <a:spcPts val="0"/>
              </a:spcAft>
              <a:defRPr sz="2800" b="1">
                <a:solidFill>
                  <a:srgbClr val="1A3C6E"/>
                </a:solidFill>
                <a:latin typeface="微软雅黑"/>
              </a:defRPr>
            </a:pPr>
            <a:r>
              <a:t>09  总结与展望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1A3C6E"/>
                </a:solidFill>
                <a:latin typeface="微软雅黑"/>
              </a:defRPr>
            </a:pPr>
            <a:r>
              <a:t>项目总结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实现了从文档输入到模板输出的完整自动化流水线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RAG 架构有效降低 LLM 幻觉风险，提升抽取精度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双路抽取互补设计兼顾准确率与覆盖率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五维评分+多源印证的融合策略具备良好可解释性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模板自省机制使系统适配多种模板格式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全链路审计报告保障决策过程可追溯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1887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340"/>
              </a:lnSpc>
              <a:spcAft>
                <a:spcPts val="0"/>
              </a:spcAft>
              <a:defRPr sz="1800" b="1">
                <a:solidFill>
                  <a:srgbClr val="E86F51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5029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支持 PDF、扫描件等更多文档格式（集成 OCR）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引入更强的本地化模型（如 Qwen2.5-7B 微调版）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增加主动学习机制，从人工审核反馈中持续优化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支持多轮交互式填表，允许用户实时修正与确认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构建可视化的数据治理与质量监控面板</a:t>
            </a:r>
          </a:p>
          <a:p>
            <a:pPr algn="l">
              <a:lnSpc>
                <a:spcPts val="2170"/>
              </a:lnSpc>
              <a:defRPr sz="1400">
                <a:solidFill>
                  <a:srgbClr val="2D2D2D"/>
                </a:solidFill>
                <a:latin typeface="微软雅黑"/>
              </a:defRPr>
            </a:pPr>
            <a:r>
              <a:t>●  探索端到端微调方案，进一步减少对规则的依赖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5486400"/>
            <a:ext cx="12191695" cy="1371600"/>
          </a:xfrm>
          <a:prstGeom prst="rect">
            <a:avLst/>
          </a:prstGeom>
          <a:solidFill>
            <a:srgbClr val="1A3C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0" y="56692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160"/>
              </a:lnSpc>
              <a:spcAft>
                <a:spcPts val="0"/>
              </a:spcAft>
              <a:defRPr sz="3200" b="1">
                <a:solidFill>
                  <a:srgbClr val="FFFFFF"/>
                </a:solidFill>
                <a:latin typeface="微软雅黑"/>
              </a:defRPr>
            </a:pPr>
            <a:r>
              <a:t>感谢聆听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217920"/>
            <a:ext cx="121916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2080"/>
              </a:lnSpc>
              <a:spcAft>
                <a:spcPts val="0"/>
              </a:spcAft>
              <a:defRPr sz="1600" b="0">
                <a:solidFill>
                  <a:srgbClr val="A0C4E8"/>
                </a:solidFill>
                <a:latin typeface="微软雅黑"/>
              </a:defRPr>
            </a:pPr>
            <a:r>
              <a:t>THANK YOU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6537960"/>
            <a:ext cx="11277295" cy="27432"/>
          </a:xfrm>
          <a:prstGeom prst="rect">
            <a:avLst/>
          </a:prstGeom>
          <a:solidFill>
            <a:srgbClr val="2E86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094415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ts val="1300"/>
              </a:lnSpc>
              <a:spcAft>
                <a:spcPts val="0"/>
              </a:spcAft>
              <a:defRPr sz="1000" b="0">
                <a:solidFill>
                  <a:srgbClr val="8A8A8A"/>
                </a:solidFill>
                <a:latin typeface="微软雅黑"/>
              </a:defRPr>
            </a:pPr>
            <a:r>
              <a:t>12/12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